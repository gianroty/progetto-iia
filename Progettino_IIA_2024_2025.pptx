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61" r:id="rId1"/>
  </p:sldMasterIdLst>
  <p:notesMasterIdLst>
    <p:notesMasterId r:id="rId13"/>
  </p:notesMasterIdLst>
  <p:handoutMasterIdLst>
    <p:handoutMasterId r:id="rId14"/>
  </p:handoutMasterIdLst>
  <p:sldIdLst>
    <p:sldId id="269" r:id="rId2"/>
    <p:sldId id="259" r:id="rId3"/>
    <p:sldId id="258" r:id="rId4"/>
    <p:sldId id="272" r:id="rId5"/>
    <p:sldId id="263" r:id="rId6"/>
    <p:sldId id="267" r:id="rId7"/>
    <p:sldId id="268" r:id="rId8"/>
    <p:sldId id="264" r:id="rId9"/>
    <p:sldId id="265" r:id="rId10"/>
    <p:sldId id="266" r:id="rId11"/>
    <p:sldId id="27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BF1D"/>
    <a:srgbClr val="00CC00"/>
    <a:srgbClr val="00FF00"/>
    <a:srgbClr val="33CCCC"/>
    <a:srgbClr val="00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Stile medio 2 - Color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12C8C85-51F0-491E-9774-3900AFEF0FD7}" styleName="Stile chiaro 2 - Color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Stile chiaro 2 - Colore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FABFCF23-3B69-468F-B69F-88F6DE6A72F2}" styleName="Stile medio 1 - Colore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93296810-A885-4BE3-A3E7-6D5BEEA58F35}" styleName="Stile medio 2 - Color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Stile medio 2 - Color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Stile medio 2 - Color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422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Segnaposto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AA9324D-736C-4521-902C-E171322BDD32}" type="datetime1">
              <a:rPr lang="it-IT" smtClean="0"/>
              <a:t>14/02/2025</a:t>
            </a:fld>
            <a:endParaRPr lang="en-US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75D426-A9DD-4244-A2CE-1FB6623742C7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8445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C9CDE5A0-E0EA-4E79-8A9D-490C77C3E1D1}" type="datetime1">
              <a:rPr lang="it-IT" smtClean="0"/>
              <a:t>14/02/2025</a:t>
            </a:fld>
            <a:endParaRPr lang="en-US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it"/>
              <a:t>Fare clic per modificare gli stili del testo dello schema</a:t>
            </a:r>
            <a:endParaRPr lang="en-US"/>
          </a:p>
          <a:p>
            <a:pPr lvl="1" rtl="0"/>
            <a:r>
              <a:rPr lang="it"/>
              <a:t>Secondo livello</a:t>
            </a:r>
          </a:p>
          <a:p>
            <a:pPr lvl="2" rtl="0"/>
            <a:r>
              <a:rPr lang="it"/>
              <a:t>Terzo livello</a:t>
            </a:r>
          </a:p>
          <a:p>
            <a:pPr lvl="3" rtl="0"/>
            <a:r>
              <a:rPr lang="it"/>
              <a:t>Quarto livello</a:t>
            </a:r>
          </a:p>
          <a:p>
            <a:pPr lvl="4" rtl="0"/>
            <a:r>
              <a:rPr lang="it"/>
              <a:t>Quinto livello</a:t>
            </a:r>
            <a:endParaRPr lang="en-US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B41D33-19C8-4450-B3C5-BE83E9C8F0BC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5525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E6A9DFD-D01D-46F2-9F5D-64CD124556CA}" type="datetime1">
              <a:rPr lang="it-IT" smtClean="0"/>
              <a:t>14/02/2025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pPr rtl="0"/>
            <a:fld id="{3A98EE3D-8CD1-4C3F-BD1C-C98C9596463C}" type="slidenum">
              <a:rPr lang="en-US" smtClean="0"/>
              <a:t>‹N›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204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C16C3F1-EAB4-40C7-A804-E4164A432ACC}" type="datetime1">
              <a:rPr lang="it-IT" smtClean="0"/>
              <a:t>14/02/2025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‹N›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3025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93AB179-A7B4-4F53-8FBC-DA521D7752CD}" type="datetime1">
              <a:rPr lang="it-IT" smtClean="0"/>
              <a:t>14/02/2025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‹N›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4078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BC475E4-8A13-4296-8284-4EFC212D9D0C}" type="datetime1">
              <a:rPr lang="it-IT" smtClean="0"/>
              <a:t>14/02/2025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‹N›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03174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EDAC308-8BE6-45DD-8B68-B04D02410B09}" type="datetime1">
              <a:rPr lang="it-IT" smtClean="0"/>
              <a:t>14/02/2025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‹N›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81580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85254269-30BB-4415-A3F6-02D389D24D09}" type="datetime1">
              <a:rPr lang="it-IT" smtClean="0"/>
              <a:t>14/02/2025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‹N›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0665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AA6CE81-F21E-4C48-B40D-AB03A3BE863B}" type="datetime1">
              <a:rPr lang="it-IT" smtClean="0"/>
              <a:t>14/02/2025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016799"/>
      </p:ext>
    </p:extLst>
  </p:cSld>
  <p:clrMapOvr>
    <a:masterClrMapping/>
  </p:clrMapOvr>
  <p:hf sldNum="0"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44D8AF99-1FFE-484F-999D-5C9E0DFBE297}" type="datetime1">
              <a:rPr lang="it-IT" smtClean="0"/>
              <a:t>14/02/2025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pPr/>
              <a:t>‹N›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91409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pPr rtl="0"/>
            <a:fld id="{BAA6CE81-F21E-4C48-B40D-AB03A3BE863B}" type="datetime1">
              <a:rPr lang="it-IT" smtClean="0"/>
              <a:t>14/02/2025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pPr rtl="0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‹N›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5291190"/>
      </p:ext>
    </p:extLst>
  </p:cSld>
  <p:clrMapOvr>
    <a:masterClrMapping/>
  </p:clrMapOvr>
  <p:hf sldNum="0"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D6985F1D-99DE-4FE8-9093-377AC3915E25}" type="datetime1">
              <a:rPr lang="it-IT" smtClean="0"/>
              <a:t>14/02/2025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‹N›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5508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AA6CE81-F21E-4C48-B40D-AB03A3BE863B}" type="datetime1">
              <a:rPr lang="it-IT" smtClean="0"/>
              <a:t>14/02/2025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‹N›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1207425"/>
      </p:ext>
    </p:extLst>
  </p:cSld>
  <p:clrMapOvr>
    <a:masterClrMapping/>
  </p:clrMapOvr>
  <p:hf sldNum="0"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BAA6CE81-F21E-4C48-B40D-AB03A3BE863B}" type="datetime1">
              <a:rPr lang="it-IT" smtClean="0"/>
              <a:t>14/02/2025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‹N›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3461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2" r:id="rId1"/>
    <p:sldLayoutId id="2147483963" r:id="rId2"/>
    <p:sldLayoutId id="2147483964" r:id="rId3"/>
    <p:sldLayoutId id="2147483965" r:id="rId4"/>
    <p:sldLayoutId id="2147483966" r:id="rId5"/>
    <p:sldLayoutId id="2147483967" r:id="rId6"/>
    <p:sldLayoutId id="2147483968" r:id="rId7"/>
    <p:sldLayoutId id="2147483969" r:id="rId8"/>
    <p:sldLayoutId id="2147483970" r:id="rId9"/>
    <p:sldLayoutId id="2147483971" r:id="rId10"/>
    <p:sldLayoutId id="2147483972" r:id="rId11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jp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g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75056214-02FA-FADF-D1EB-6D62D624111A}"/>
              </a:ext>
            </a:extLst>
          </p:cNvPr>
          <p:cNvSpPr txBox="1"/>
          <p:nvPr/>
        </p:nvSpPr>
        <p:spPr>
          <a:xfrm>
            <a:off x="4161491" y="3690354"/>
            <a:ext cx="386901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500" b="1" i="1" dirty="0">
                <a:latin typeface="Candara" panose="020E0502030303020204" pitchFamily="34" charset="0"/>
              </a:rPr>
              <a:t>Gianluca Rota (904375)</a:t>
            </a:r>
            <a:br>
              <a:rPr lang="it-IT" sz="2500" b="1" i="1" dirty="0">
                <a:latin typeface="Candara" panose="020E0502030303020204" pitchFamily="34" charset="0"/>
              </a:rPr>
            </a:br>
            <a:r>
              <a:rPr lang="it-IT" sz="2500" b="1" i="1" dirty="0">
                <a:latin typeface="Candara" panose="020E0502030303020204" pitchFamily="34" charset="0"/>
              </a:rPr>
              <a:t>Andrea Magliani (894395)</a:t>
            </a: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2A000DA6-A739-4B8D-B4E3-308E88A38985}"/>
              </a:ext>
            </a:extLst>
          </p:cNvPr>
          <p:cNvSpPr/>
          <p:nvPr/>
        </p:nvSpPr>
        <p:spPr>
          <a:xfrm>
            <a:off x="1850730" y="757418"/>
            <a:ext cx="8490540" cy="230832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r>
              <a:rPr lang="it-IT" sz="4800" b="1" i="1" spc="50" dirty="0">
                <a:ln w="11430"/>
                <a:solidFill>
                  <a:srgbClr val="0070C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Progetto</a:t>
            </a:r>
          </a:p>
          <a:p>
            <a:pPr algn="ctr"/>
            <a:r>
              <a:rPr lang="it-IT" sz="4800" b="1" i="1" spc="50" dirty="0">
                <a:ln w="11430"/>
                <a:solidFill>
                  <a:schemeClr val="accent1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Introduzione all’Intelligenza Artificiale</a:t>
            </a:r>
            <a:endParaRPr lang="it-IT" sz="4800" b="1" i="1" cap="none" spc="50" dirty="0">
              <a:ln w="11430"/>
              <a:solidFill>
                <a:schemeClr val="accent1"/>
              </a:soli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26373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34" presetClass="emph" presetSubtype="0" fill="hold" grpId="1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Motion origin="layout" path="M 0.0 0.0 L 0.0 -0.07213" pathEditMode="relative" ptsTypes="">
                                      <p:cBhvr>
                                        <p:cTn id="12" dur="250" accel="50000" decel="50000" autoRev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500000">
                                      <p:cBhvr>
                                        <p:cTn id="13" dur="12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14" dur="125" fill="hold">
                                          <p:stCondLst>
                                            <p:cond delay="125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1500000">
                                      <p:cBhvr>
                                        <p:cTn id="15" dur="125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500000">
                                      <p:cBhvr>
                                        <p:cTn id="16" dur="125" fill="hold">
                                          <p:stCondLst>
                                            <p:cond delay="375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300"/>
                            </p:stCondLst>
                            <p:childTnLst>
                              <p:par>
                                <p:cTn id="18" presetID="26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6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7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8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9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0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1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2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3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14" grpId="0"/>
      <p:bldP spid="14" grpId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AAC9BF2-22A0-F1A9-FFD2-E92164BE6396}"/>
              </a:ext>
            </a:extLst>
          </p:cNvPr>
          <p:cNvSpPr/>
          <p:nvPr/>
        </p:nvSpPr>
        <p:spPr>
          <a:xfrm>
            <a:off x="3544660" y="1155571"/>
            <a:ext cx="5102680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r>
              <a:rPr lang="it-IT" sz="4000" b="1" i="1" spc="50" dirty="0">
                <a:ln w="11430"/>
                <a:solidFill>
                  <a:srgbClr val="C0000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Scopo del progetto</a:t>
            </a:r>
            <a:endParaRPr lang="it-IT" sz="4000" b="1" i="1" cap="none" spc="50" dirty="0">
              <a:ln w="11430"/>
              <a:solidFill>
                <a:srgbClr val="C00000"/>
              </a:soli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BE7D5A9-4734-587D-FE7D-F55728F8CFA4}"/>
              </a:ext>
            </a:extLst>
          </p:cNvPr>
          <p:cNvSpPr txBox="1"/>
          <p:nvPr/>
        </p:nvSpPr>
        <p:spPr>
          <a:xfrm>
            <a:off x="1808764" y="2360261"/>
            <a:ext cx="4287236" cy="3145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Analizzare il dataset della collezione di documenti denominata </a:t>
            </a:r>
            <a:r>
              <a:rPr lang="it-IT" sz="20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carteBollate</a:t>
            </a:r>
            <a:r>
              <a:rPr lang="it-IT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per: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 err="1">
                <a:latin typeface="Bahnschrift" panose="020B0502040204020203" pitchFamily="34" charset="0"/>
              </a:rPr>
              <a:t>Article</a:t>
            </a:r>
            <a:endParaRPr lang="it-IT" sz="2000" dirty="0">
              <a:latin typeface="Bahnschrif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>
                <a:latin typeface="Bahnschrift" panose="020B0502040204020203" pitchFamily="34" charset="0"/>
              </a:rPr>
              <a:t>Topic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 err="1">
                <a:latin typeface="Bahnschrift" panose="020B0502040204020203" pitchFamily="34" charset="0"/>
              </a:rPr>
              <a:t>Year</a:t>
            </a:r>
            <a:endParaRPr lang="it-IT" sz="2000" dirty="0">
              <a:latin typeface="Bahnschrift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000" dirty="0" err="1">
                <a:latin typeface="Bahnschrift" panose="020B0502040204020203" pitchFamily="34" charset="0"/>
              </a:rPr>
              <a:t>Issue</a:t>
            </a:r>
            <a:endParaRPr lang="it-IT" sz="2000" dirty="0">
              <a:latin typeface="Bahnschrift" panose="020B0502040204020203" pitchFamily="34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endParaRPr lang="it-IT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ahnschrift" panose="020B0502040204020203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ctr">
              <a:lnSpc>
                <a:spcPct val="107000"/>
              </a:lnSpc>
              <a:spcAft>
                <a:spcPts val="800"/>
              </a:spcAft>
            </a:pPr>
            <a:endParaRPr lang="it-IT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ahnschrift" panose="020B0502040204020203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Immagini di Analisi Dati - Download gratuiti su Freepik">
            <a:extLst>
              <a:ext uri="{FF2B5EF4-FFF2-40B4-BE49-F238E27FC236}">
                <a16:creationId xmlns:a16="http://schemas.microsoft.com/office/drawing/2014/main" id="{0C56639B-D77C-EB4B-2A44-074D8F82B6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0748" y="2360261"/>
            <a:ext cx="3693183" cy="2730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867206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D7517B83-5572-4403-5BA4-ADB296FE549C}"/>
              </a:ext>
            </a:extLst>
          </p:cNvPr>
          <p:cNvSpPr/>
          <p:nvPr/>
        </p:nvSpPr>
        <p:spPr>
          <a:xfrm>
            <a:off x="5455897" y="1108920"/>
            <a:ext cx="162808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r>
              <a:rPr lang="it-IT" sz="4000" b="1" i="1" spc="50" dirty="0">
                <a:ln w="11430"/>
                <a:solidFill>
                  <a:srgbClr val="C0000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Task</a:t>
            </a:r>
            <a:endParaRPr lang="it-IT" sz="4000" b="1" i="1" cap="none" spc="50" dirty="0">
              <a:ln w="11430"/>
              <a:solidFill>
                <a:srgbClr val="C00000"/>
              </a:soli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  <p:grpSp>
        <p:nvGrpSpPr>
          <p:cNvPr id="11" name="Gruppo 10">
            <a:extLst>
              <a:ext uri="{FF2B5EF4-FFF2-40B4-BE49-F238E27FC236}">
                <a16:creationId xmlns:a16="http://schemas.microsoft.com/office/drawing/2014/main" id="{7E595E8E-491D-3582-BD92-DA2BB35F7392}"/>
              </a:ext>
            </a:extLst>
          </p:cNvPr>
          <p:cNvGrpSpPr/>
          <p:nvPr/>
        </p:nvGrpSpPr>
        <p:grpSpPr>
          <a:xfrm>
            <a:off x="-595498" y="1974389"/>
            <a:ext cx="3137973" cy="743413"/>
            <a:chOff x="537528" y="1551989"/>
            <a:chExt cx="3137973" cy="743413"/>
          </a:xfrm>
        </p:grpSpPr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1E486FAA-2A37-2BFD-125C-40485CEF9360}"/>
                </a:ext>
              </a:extLst>
            </p:cNvPr>
            <p:cNvSpPr txBox="1"/>
            <p:nvPr/>
          </p:nvSpPr>
          <p:spPr>
            <a:xfrm>
              <a:off x="537528" y="1587516"/>
              <a:ext cx="4572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it-IT" sz="4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>
                    <a:lumMod val="75000"/>
                  </a:schemeClr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endParaRPr>
            </a:p>
          </p:txBody>
        </p:sp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3C1A0235-429D-0A30-E59E-F7A2B5A5076D}"/>
                </a:ext>
              </a:extLst>
            </p:cNvPr>
            <p:cNvSpPr txBox="1"/>
            <p:nvPr/>
          </p:nvSpPr>
          <p:spPr>
            <a:xfrm>
              <a:off x="677141" y="1551989"/>
              <a:ext cx="29983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latin typeface="Bahnschrift SemiBold" panose="020B0502040204020203" pitchFamily="34" charset="0"/>
                </a:rPr>
                <a:t>Import Dataset</a:t>
              </a:r>
            </a:p>
          </p:txBody>
        </p:sp>
      </p:grpSp>
      <p:grpSp>
        <p:nvGrpSpPr>
          <p:cNvPr id="34" name="Gruppo 33">
            <a:extLst>
              <a:ext uri="{FF2B5EF4-FFF2-40B4-BE49-F238E27FC236}">
                <a16:creationId xmlns:a16="http://schemas.microsoft.com/office/drawing/2014/main" id="{97122C19-2A96-62F2-3683-7C5417AFB543}"/>
              </a:ext>
            </a:extLst>
          </p:cNvPr>
          <p:cNvGrpSpPr/>
          <p:nvPr/>
        </p:nvGrpSpPr>
        <p:grpSpPr>
          <a:xfrm>
            <a:off x="4536789" y="1953873"/>
            <a:ext cx="3118421" cy="779696"/>
            <a:chOff x="4839872" y="1220061"/>
            <a:chExt cx="3118421" cy="779696"/>
          </a:xfrm>
        </p:grpSpPr>
        <p:sp>
          <p:nvSpPr>
            <p:cNvPr id="19" name="CasellaDiTesto 18">
              <a:extLst>
                <a:ext uri="{FF2B5EF4-FFF2-40B4-BE49-F238E27FC236}">
                  <a16:creationId xmlns:a16="http://schemas.microsoft.com/office/drawing/2014/main" id="{AE70F7CF-F694-53AF-2AF6-C5F1363249D2}"/>
                </a:ext>
              </a:extLst>
            </p:cNvPr>
            <p:cNvSpPr txBox="1"/>
            <p:nvPr/>
          </p:nvSpPr>
          <p:spPr>
            <a:xfrm>
              <a:off x="4839872" y="1291871"/>
              <a:ext cx="45720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it-IT" sz="4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00FF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endParaRPr>
            </a:p>
          </p:txBody>
        </p:sp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91EDD8B1-CBF8-0C2D-0335-0C64AA60B353}"/>
                </a:ext>
              </a:extLst>
            </p:cNvPr>
            <p:cNvSpPr txBox="1"/>
            <p:nvPr/>
          </p:nvSpPr>
          <p:spPr>
            <a:xfrm>
              <a:off x="5187756" y="1220061"/>
              <a:ext cx="27705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latin typeface="Bahnschrift SemiBold" panose="020B0502040204020203" pitchFamily="34" charset="0"/>
                </a:rPr>
                <a:t>Raggruppamenti</a:t>
              </a:r>
            </a:p>
          </p:txBody>
        </p:sp>
      </p:grp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AE0C8742-6A49-984A-8491-F35FD95615AA}"/>
              </a:ext>
            </a:extLst>
          </p:cNvPr>
          <p:cNvGrpSpPr/>
          <p:nvPr/>
        </p:nvGrpSpPr>
        <p:grpSpPr>
          <a:xfrm>
            <a:off x="8971673" y="1846997"/>
            <a:ext cx="3220327" cy="707886"/>
            <a:chOff x="8525482" y="1225595"/>
            <a:chExt cx="3220327" cy="707886"/>
          </a:xfrm>
        </p:grpSpPr>
        <p:sp>
          <p:nvSpPr>
            <p:cNvPr id="25" name="CasellaDiTesto 24">
              <a:extLst>
                <a:ext uri="{FF2B5EF4-FFF2-40B4-BE49-F238E27FC236}">
                  <a16:creationId xmlns:a16="http://schemas.microsoft.com/office/drawing/2014/main" id="{8807F35A-F4FC-AEDB-6A4E-EFAF4C467EB0}"/>
                </a:ext>
              </a:extLst>
            </p:cNvPr>
            <p:cNvSpPr txBox="1"/>
            <p:nvPr/>
          </p:nvSpPr>
          <p:spPr>
            <a:xfrm>
              <a:off x="8525483" y="1276289"/>
              <a:ext cx="32203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latin typeface="Bahnschrift SemiBold" panose="020B0502040204020203" pitchFamily="34" charset="0"/>
                </a:rPr>
                <a:t>Analisi esplorativa dei dati</a:t>
              </a:r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0F1F643B-C744-E99C-9B87-283A37A4F79A}"/>
                </a:ext>
              </a:extLst>
            </p:cNvPr>
            <p:cNvSpPr txBox="1"/>
            <p:nvPr/>
          </p:nvSpPr>
          <p:spPr>
            <a:xfrm>
              <a:off x="8525482" y="1225595"/>
              <a:ext cx="53256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it-IT" sz="4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C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endParaRPr>
            </a:p>
          </p:txBody>
        </p:sp>
      </p:grpSp>
      <p:grpSp>
        <p:nvGrpSpPr>
          <p:cNvPr id="33" name="Gruppo 32">
            <a:extLst>
              <a:ext uri="{FF2B5EF4-FFF2-40B4-BE49-F238E27FC236}">
                <a16:creationId xmlns:a16="http://schemas.microsoft.com/office/drawing/2014/main" id="{9A283A5F-80C6-2177-9B10-D959DE310576}"/>
              </a:ext>
            </a:extLst>
          </p:cNvPr>
          <p:cNvGrpSpPr/>
          <p:nvPr/>
        </p:nvGrpSpPr>
        <p:grpSpPr>
          <a:xfrm>
            <a:off x="5271635" y="3864848"/>
            <a:ext cx="3895321" cy="1035863"/>
            <a:chOff x="5241794" y="3966092"/>
            <a:chExt cx="3895321" cy="1035863"/>
          </a:xfrm>
        </p:grpSpPr>
        <p:sp>
          <p:nvSpPr>
            <p:cNvPr id="30" name="CasellaDiTesto 29">
              <a:extLst>
                <a:ext uri="{FF2B5EF4-FFF2-40B4-BE49-F238E27FC236}">
                  <a16:creationId xmlns:a16="http://schemas.microsoft.com/office/drawing/2014/main" id="{7A90F592-B4AF-4732-4A59-B27E69C318A3}"/>
                </a:ext>
              </a:extLst>
            </p:cNvPr>
            <p:cNvSpPr txBox="1"/>
            <p:nvPr/>
          </p:nvSpPr>
          <p:spPr>
            <a:xfrm>
              <a:off x="5241794" y="3966092"/>
              <a:ext cx="389532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latin typeface="Bahnschrift SemiBold" panose="020B0502040204020203" pitchFamily="34" charset="0"/>
                </a:rPr>
                <a:t>Estrazione Keywords </a:t>
              </a:r>
            </a:p>
            <a:p>
              <a:pPr algn="ctr"/>
              <a:r>
                <a:rPr lang="it-IT" b="1" dirty="0">
                  <a:latin typeface="Bahnschrift SemiBold" panose="020B0502040204020203" pitchFamily="34" charset="0"/>
                </a:rPr>
                <a:t>&amp; N </a:t>
              </a:r>
              <a:r>
                <a:rPr lang="it-IT" b="1" dirty="0" err="1">
                  <a:latin typeface="Bahnschrift SemiBold" panose="020B0502040204020203" pitchFamily="34" charset="0"/>
                </a:rPr>
                <a:t>grams</a:t>
              </a:r>
              <a:endParaRPr lang="it-IT" b="1" dirty="0">
                <a:latin typeface="Bahnschrift SemiBold" panose="020B0502040204020203" pitchFamily="34" charset="0"/>
              </a:endParaRPr>
            </a:p>
          </p:txBody>
        </p:sp>
        <p:sp>
          <p:nvSpPr>
            <p:cNvPr id="31" name="CasellaDiTesto 30">
              <a:extLst>
                <a:ext uri="{FF2B5EF4-FFF2-40B4-BE49-F238E27FC236}">
                  <a16:creationId xmlns:a16="http://schemas.microsoft.com/office/drawing/2014/main" id="{8FE67217-6D89-92A3-5EE4-64E6B5289891}"/>
                </a:ext>
              </a:extLst>
            </p:cNvPr>
            <p:cNvSpPr txBox="1"/>
            <p:nvPr/>
          </p:nvSpPr>
          <p:spPr>
            <a:xfrm>
              <a:off x="5563437" y="4294069"/>
              <a:ext cx="53256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it-IT" sz="4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33CCCC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endParaRPr>
            </a:p>
          </p:txBody>
        </p:sp>
      </p:grp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01622652-E68D-CF7D-D8D7-C231C74982A7}"/>
              </a:ext>
            </a:extLst>
          </p:cNvPr>
          <p:cNvGrpSpPr/>
          <p:nvPr/>
        </p:nvGrpSpPr>
        <p:grpSpPr>
          <a:xfrm>
            <a:off x="-595498" y="2483090"/>
            <a:ext cx="3611402" cy="779679"/>
            <a:chOff x="1075055" y="4222276"/>
            <a:chExt cx="3611402" cy="779679"/>
          </a:xfrm>
        </p:grpSpPr>
        <p:sp>
          <p:nvSpPr>
            <p:cNvPr id="27" name="CasellaDiTesto 26">
              <a:extLst>
                <a:ext uri="{FF2B5EF4-FFF2-40B4-BE49-F238E27FC236}">
                  <a16:creationId xmlns:a16="http://schemas.microsoft.com/office/drawing/2014/main" id="{455F818E-1DF6-4355-46A5-68D18B8F39FE}"/>
                </a:ext>
              </a:extLst>
            </p:cNvPr>
            <p:cNvSpPr txBox="1"/>
            <p:nvPr/>
          </p:nvSpPr>
          <p:spPr>
            <a:xfrm>
              <a:off x="1166527" y="4222276"/>
              <a:ext cx="35199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 err="1">
                  <a:latin typeface="Bahnschrift SemiBold" panose="020B0502040204020203" pitchFamily="34" charset="0"/>
                </a:rPr>
                <a:t>Preprocessing</a:t>
              </a:r>
              <a:endParaRPr lang="it-IT" b="1" dirty="0">
                <a:latin typeface="Bahnschrift SemiBold" panose="020B0502040204020203" pitchFamily="34" charset="0"/>
              </a:endParaRPr>
            </a:p>
          </p:txBody>
        </p:sp>
        <p:sp>
          <p:nvSpPr>
            <p:cNvPr id="32" name="CasellaDiTesto 31">
              <a:extLst>
                <a:ext uri="{FF2B5EF4-FFF2-40B4-BE49-F238E27FC236}">
                  <a16:creationId xmlns:a16="http://schemas.microsoft.com/office/drawing/2014/main" id="{9972D5A3-ED7D-3EDA-31F9-ED1E4443D700}"/>
                </a:ext>
              </a:extLst>
            </p:cNvPr>
            <p:cNvSpPr txBox="1"/>
            <p:nvPr/>
          </p:nvSpPr>
          <p:spPr>
            <a:xfrm>
              <a:off x="1075055" y="4294069"/>
              <a:ext cx="4199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it-IT" sz="4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endParaRPr>
            </a:p>
          </p:txBody>
        </p:sp>
      </p:grpSp>
      <p:pic>
        <p:nvPicPr>
          <p:cNvPr id="6" name="Immagine 5">
            <a:extLst>
              <a:ext uri="{FF2B5EF4-FFF2-40B4-BE49-F238E27FC236}">
                <a16:creationId xmlns:a16="http://schemas.microsoft.com/office/drawing/2014/main" id="{E65DE170-C9BA-6238-01A6-C5C2FCB5B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61" y="2364167"/>
            <a:ext cx="2948012" cy="1212983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F581DE51-4676-B8B1-BE24-EE39BB8374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1098" y="2300723"/>
            <a:ext cx="2357702" cy="1329154"/>
          </a:xfrm>
          <a:prstGeom prst="rect">
            <a:avLst/>
          </a:prstGeom>
        </p:spPr>
      </p:pic>
      <p:pic>
        <p:nvPicPr>
          <p:cNvPr id="18" name="Immagine 17">
            <a:extLst>
              <a:ext uri="{FF2B5EF4-FFF2-40B4-BE49-F238E27FC236}">
                <a16:creationId xmlns:a16="http://schemas.microsoft.com/office/drawing/2014/main" id="{086CB2DC-980A-E689-CC53-B19DFC77C0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6762" y="2210951"/>
            <a:ext cx="1930149" cy="148923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4" name="Immagine 23">
            <a:extLst>
              <a:ext uri="{FF2B5EF4-FFF2-40B4-BE49-F238E27FC236}">
                <a16:creationId xmlns:a16="http://schemas.microsoft.com/office/drawing/2014/main" id="{9AB00359-FF07-0341-B764-48362B84F3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4838" y="4340692"/>
            <a:ext cx="2648800" cy="148011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5" name="Immagine 34">
            <a:extLst>
              <a:ext uri="{FF2B5EF4-FFF2-40B4-BE49-F238E27FC236}">
                <a16:creationId xmlns:a16="http://schemas.microsoft.com/office/drawing/2014/main" id="{FD56BE1A-0179-60C7-01D4-1350C6E8C6D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897" y="4446308"/>
            <a:ext cx="1633865" cy="16338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pSp>
        <p:nvGrpSpPr>
          <p:cNvPr id="36" name="Gruppo 35">
            <a:extLst>
              <a:ext uri="{FF2B5EF4-FFF2-40B4-BE49-F238E27FC236}">
                <a16:creationId xmlns:a16="http://schemas.microsoft.com/office/drawing/2014/main" id="{8A63ADFE-6E48-8113-BE88-C72FBB956CAE}"/>
              </a:ext>
            </a:extLst>
          </p:cNvPr>
          <p:cNvGrpSpPr/>
          <p:nvPr/>
        </p:nvGrpSpPr>
        <p:grpSpPr>
          <a:xfrm>
            <a:off x="3372164" y="3770489"/>
            <a:ext cx="1982076" cy="707886"/>
            <a:chOff x="5566360" y="4200196"/>
            <a:chExt cx="3895321" cy="707886"/>
          </a:xfrm>
        </p:grpSpPr>
        <p:sp>
          <p:nvSpPr>
            <p:cNvPr id="37" name="CasellaDiTesto 36">
              <a:extLst>
                <a:ext uri="{FF2B5EF4-FFF2-40B4-BE49-F238E27FC236}">
                  <a16:creationId xmlns:a16="http://schemas.microsoft.com/office/drawing/2014/main" id="{9B5BC564-8DC7-B72C-3BED-FB0EA65D6404}"/>
                </a:ext>
              </a:extLst>
            </p:cNvPr>
            <p:cNvSpPr txBox="1"/>
            <p:nvPr/>
          </p:nvSpPr>
          <p:spPr>
            <a:xfrm>
              <a:off x="5566360" y="4256940"/>
              <a:ext cx="389532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b="1" dirty="0">
                  <a:latin typeface="Bahnschrift SemiBold" panose="020B0502040204020203" pitchFamily="34" charset="0"/>
                </a:rPr>
                <a:t>Confronto tra keywords</a:t>
              </a:r>
            </a:p>
          </p:txBody>
        </p:sp>
        <p:sp>
          <p:nvSpPr>
            <p:cNvPr id="38" name="CasellaDiTesto 37">
              <a:extLst>
                <a:ext uri="{FF2B5EF4-FFF2-40B4-BE49-F238E27FC236}">
                  <a16:creationId xmlns:a16="http://schemas.microsoft.com/office/drawing/2014/main" id="{A92E59FD-53FC-D30E-12F3-43B60B0598C6}"/>
                </a:ext>
              </a:extLst>
            </p:cNvPr>
            <p:cNvSpPr txBox="1"/>
            <p:nvPr/>
          </p:nvSpPr>
          <p:spPr>
            <a:xfrm>
              <a:off x="5678306" y="4200196"/>
              <a:ext cx="592662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it-IT" sz="4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rgbClr val="EBBF1D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endParaRPr>
            </a:p>
          </p:txBody>
        </p:sp>
      </p:grp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4BF744B4-43C8-63AE-9FFB-782EF6342EAC}"/>
              </a:ext>
            </a:extLst>
          </p:cNvPr>
          <p:cNvSpPr txBox="1"/>
          <p:nvPr/>
        </p:nvSpPr>
        <p:spPr>
          <a:xfrm>
            <a:off x="757578" y="3827233"/>
            <a:ext cx="1982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Bahnschrift SemiBold" panose="020B0502040204020203" pitchFamily="34" charset="0"/>
              </a:rPr>
              <a:t>Analisi lessicale e sentimentale</a:t>
            </a:r>
          </a:p>
        </p:txBody>
      </p:sp>
      <p:pic>
        <p:nvPicPr>
          <p:cNvPr id="52" name="Immagine 51">
            <a:extLst>
              <a:ext uri="{FF2B5EF4-FFF2-40B4-BE49-F238E27FC236}">
                <a16:creationId xmlns:a16="http://schemas.microsoft.com/office/drawing/2014/main" id="{9D54A8A1-220E-E9F6-19D8-959D2317105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137" y="4473564"/>
            <a:ext cx="1226959" cy="1502827"/>
          </a:xfrm>
          <a:prstGeom prst="rect">
            <a:avLst/>
          </a:prstGeom>
        </p:spPr>
      </p:pic>
      <p:pic>
        <p:nvPicPr>
          <p:cNvPr id="54" name="Immagine 53">
            <a:extLst>
              <a:ext uri="{FF2B5EF4-FFF2-40B4-BE49-F238E27FC236}">
                <a16:creationId xmlns:a16="http://schemas.microsoft.com/office/drawing/2014/main" id="{4369077D-A952-1185-ED8B-12888A5EF5B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7655" y="4473564"/>
            <a:ext cx="1248690" cy="1502827"/>
          </a:xfrm>
          <a:prstGeom prst="rect">
            <a:avLst/>
          </a:prstGeom>
        </p:spPr>
      </p:pic>
      <p:sp>
        <p:nvSpPr>
          <p:cNvPr id="2" name="Freccia a destra 1">
            <a:extLst>
              <a:ext uri="{FF2B5EF4-FFF2-40B4-BE49-F238E27FC236}">
                <a16:creationId xmlns:a16="http://schemas.microsoft.com/office/drawing/2014/main" id="{B57AB385-C5C0-DDB8-0249-3E32A09D10DD}"/>
              </a:ext>
            </a:extLst>
          </p:cNvPr>
          <p:cNvSpPr/>
          <p:nvPr/>
        </p:nvSpPr>
        <p:spPr>
          <a:xfrm>
            <a:off x="3434788" y="2733569"/>
            <a:ext cx="1425856" cy="3148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14045E4-7048-EBD5-15E0-AF66CE17D652}"/>
              </a:ext>
            </a:extLst>
          </p:cNvPr>
          <p:cNvSpPr txBox="1"/>
          <p:nvPr/>
        </p:nvSpPr>
        <p:spPr>
          <a:xfrm>
            <a:off x="8075204" y="4013448"/>
            <a:ext cx="38953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Bahnschrift SemiBold" panose="020B0502040204020203" pitchFamily="34" charset="0"/>
              </a:rPr>
              <a:t>Preprocessing</a:t>
            </a:r>
            <a:endParaRPr lang="it-IT" b="1" dirty="0">
              <a:latin typeface="Bahnschrift SemiBold" panose="020B0502040204020203" pitchFamily="34" charset="0"/>
            </a:endParaRPr>
          </a:p>
        </p:txBody>
      </p:sp>
      <p:sp>
        <p:nvSpPr>
          <p:cNvPr id="9" name="Freccia a destra 8">
            <a:extLst>
              <a:ext uri="{FF2B5EF4-FFF2-40B4-BE49-F238E27FC236}">
                <a16:creationId xmlns:a16="http://schemas.microsoft.com/office/drawing/2014/main" id="{9F7C2251-1282-503A-DB74-D2A41AEBD982}"/>
              </a:ext>
            </a:extLst>
          </p:cNvPr>
          <p:cNvSpPr/>
          <p:nvPr/>
        </p:nvSpPr>
        <p:spPr>
          <a:xfrm>
            <a:off x="7804853" y="2730658"/>
            <a:ext cx="1425856" cy="3148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Freccia in giù 12">
            <a:extLst>
              <a:ext uri="{FF2B5EF4-FFF2-40B4-BE49-F238E27FC236}">
                <a16:creationId xmlns:a16="http://schemas.microsoft.com/office/drawing/2014/main" id="{AAC71DFF-287C-1DE9-D1C0-CB1750703397}"/>
              </a:ext>
            </a:extLst>
          </p:cNvPr>
          <p:cNvSpPr/>
          <p:nvPr/>
        </p:nvSpPr>
        <p:spPr>
          <a:xfrm>
            <a:off x="10446589" y="3700188"/>
            <a:ext cx="310551" cy="31326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1" name="Freccia a sinistra 20">
            <a:extLst>
              <a:ext uri="{FF2B5EF4-FFF2-40B4-BE49-F238E27FC236}">
                <a16:creationId xmlns:a16="http://schemas.microsoft.com/office/drawing/2014/main" id="{DE967937-A2DB-2556-30EF-FE6115A0DC30}"/>
              </a:ext>
            </a:extLst>
          </p:cNvPr>
          <p:cNvSpPr/>
          <p:nvPr/>
        </p:nvSpPr>
        <p:spPr>
          <a:xfrm>
            <a:off x="8075204" y="4968815"/>
            <a:ext cx="1091752" cy="29329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Freccia a sinistra 22">
            <a:extLst>
              <a:ext uri="{FF2B5EF4-FFF2-40B4-BE49-F238E27FC236}">
                <a16:creationId xmlns:a16="http://schemas.microsoft.com/office/drawing/2014/main" id="{7A63F07D-BC88-38A0-56C2-E665AAD3287E}"/>
              </a:ext>
            </a:extLst>
          </p:cNvPr>
          <p:cNvSpPr/>
          <p:nvPr/>
        </p:nvSpPr>
        <p:spPr>
          <a:xfrm>
            <a:off x="5178188" y="4964763"/>
            <a:ext cx="1091752" cy="29329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Freccia a sinistra 25">
            <a:extLst>
              <a:ext uri="{FF2B5EF4-FFF2-40B4-BE49-F238E27FC236}">
                <a16:creationId xmlns:a16="http://schemas.microsoft.com/office/drawing/2014/main" id="{BCE4392E-4104-B0DF-E1BA-4D725E4DD651}"/>
              </a:ext>
            </a:extLst>
          </p:cNvPr>
          <p:cNvSpPr/>
          <p:nvPr/>
        </p:nvSpPr>
        <p:spPr>
          <a:xfrm>
            <a:off x="2500420" y="4964763"/>
            <a:ext cx="1091752" cy="29329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784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" presetClass="entr" presetSubtype="9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00"/>
                            </p:stCondLst>
                            <p:childTnLst>
                              <p:par>
                                <p:cTn id="16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" presetClass="entr" presetSubtype="3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0"/>
                            </p:stCondLst>
                            <p:childTnLst>
                              <p:par>
                                <p:cTn id="26" presetID="2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000"/>
                            </p:stCondLst>
                            <p:childTnLst>
                              <p:par>
                                <p:cTn id="31" presetID="2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5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8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6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6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6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6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6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6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7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6" dur="2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4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sellaDiTesto 6">
            <a:extLst>
              <a:ext uri="{FF2B5EF4-FFF2-40B4-BE49-F238E27FC236}">
                <a16:creationId xmlns:a16="http://schemas.microsoft.com/office/drawing/2014/main" id="{7532141F-12FA-6212-775C-E4E15F071B87}"/>
              </a:ext>
            </a:extLst>
          </p:cNvPr>
          <p:cNvSpPr txBox="1"/>
          <p:nvPr/>
        </p:nvSpPr>
        <p:spPr>
          <a:xfrm>
            <a:off x="1237215" y="2298807"/>
            <a:ext cx="48072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Data in input una lista di documenti, vengono calcolate le medie statistiche del numero di parole e frasi contenute in tali documenti. </a:t>
            </a:r>
            <a:endParaRPr lang="it-IT" sz="2000" dirty="0">
              <a:latin typeface="Bahnschrift" panose="020B0502040204020203" pitchFamily="34" charset="0"/>
            </a:endParaRP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02112B4C-29E8-200B-4FB4-C4177035B23F}"/>
              </a:ext>
            </a:extLst>
          </p:cNvPr>
          <p:cNvSpPr/>
          <p:nvPr/>
        </p:nvSpPr>
        <p:spPr>
          <a:xfrm>
            <a:off x="3640840" y="1167829"/>
            <a:ext cx="4910319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r>
              <a:rPr lang="it-IT" sz="4000" b="1" i="1" spc="50" dirty="0">
                <a:ln w="11430"/>
                <a:solidFill>
                  <a:srgbClr val="C0000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Analisi Esplorativa</a:t>
            </a:r>
            <a:endParaRPr lang="it-IT" sz="4000" b="1" i="1" cap="none" spc="50" dirty="0">
              <a:ln w="11430"/>
              <a:solidFill>
                <a:srgbClr val="C00000"/>
              </a:soli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6B2A602D-43CB-AF98-0A9E-D7625FCA4F62}"/>
              </a:ext>
            </a:extLst>
          </p:cNvPr>
          <p:cNvSpPr/>
          <p:nvPr/>
        </p:nvSpPr>
        <p:spPr>
          <a:xfrm>
            <a:off x="7414868" y="2298807"/>
            <a:ext cx="1604928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r>
              <a:rPr lang="it-IT" sz="2400" b="1" i="1" spc="50" dirty="0">
                <a:ln w="11430"/>
                <a:solidFill>
                  <a:srgbClr val="0070C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Obiettivo</a:t>
            </a:r>
            <a:endParaRPr lang="it-IT" sz="2400" b="1" i="1" cap="none" spc="50" dirty="0">
              <a:ln w="11430"/>
              <a:solidFill>
                <a:srgbClr val="0070C0"/>
              </a:soli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C611B0F-E543-ACD8-F5AB-6356DF47C787}"/>
              </a:ext>
            </a:extLst>
          </p:cNvPr>
          <p:cNvSpPr txBox="1"/>
          <p:nvPr/>
        </p:nvSpPr>
        <p:spPr>
          <a:xfrm>
            <a:off x="7492506" y="2835767"/>
            <a:ext cx="34622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Determinare il numero ottimale di parole chiave da cercare</a:t>
            </a:r>
            <a:endParaRPr lang="it-IT" dirty="0"/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A81E5866-3A8F-9DE6-F750-E6E791EFA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651" y="4010730"/>
            <a:ext cx="5272377" cy="19424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35608729-7DB5-E51D-F7DA-1566504FBB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634" y="4596140"/>
            <a:ext cx="5182323" cy="7716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5583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shred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500"/>
                            </p:stCondLst>
                            <p:childTnLst>
                              <p:par>
                                <p:cTn id="27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00"/>
                            </p:stCondLst>
                            <p:childTnLst>
                              <p:par>
                                <p:cTn id="31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0" grpId="0"/>
      <p:bldP spid="5" grpId="0"/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C0D3A8E-53AC-D716-5256-03D020886A49}"/>
              </a:ext>
            </a:extLst>
          </p:cNvPr>
          <p:cNvSpPr/>
          <p:nvPr/>
        </p:nvSpPr>
        <p:spPr>
          <a:xfrm>
            <a:off x="4454984" y="1155276"/>
            <a:ext cx="3422732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r>
              <a:rPr lang="it-IT" sz="4000" b="1" spc="-150" dirty="0" err="1">
                <a:ln w="11430"/>
                <a:solidFill>
                  <a:srgbClr val="C0000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Preprocessing</a:t>
            </a:r>
            <a:endParaRPr lang="it-IT" sz="4000" b="1" cap="none" spc="-150" dirty="0">
              <a:ln w="11430"/>
              <a:solidFill>
                <a:srgbClr val="C00000"/>
              </a:soli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DA06C42-D401-012F-2007-8D27147AD377}"/>
              </a:ext>
            </a:extLst>
          </p:cNvPr>
          <p:cNvSpPr txBox="1"/>
          <p:nvPr/>
        </p:nvSpPr>
        <p:spPr>
          <a:xfrm>
            <a:off x="1350867" y="2843669"/>
            <a:ext cx="3104117" cy="145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400" dirty="0">
                <a:solidFill>
                  <a:srgbClr val="00B0F0"/>
                </a:solidFill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  <a:sym typeface="Wingdings 2" panose="05020102010507070707" pitchFamily="18" charset="2"/>
              </a:rPr>
              <a:t></a:t>
            </a:r>
            <a:r>
              <a:rPr lang="it-IT" sz="1400" dirty="0">
                <a:solidFill>
                  <a:schemeClr val="accent4">
                    <a:lumMod val="75000"/>
                  </a:schemeClr>
                </a:solidFill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  <a:sym typeface="Wingdings 2" panose="05020102010507070707" pitchFamily="18" charset="2"/>
              </a:rPr>
              <a:t> </a:t>
            </a:r>
            <a:r>
              <a:rPr lang="it-IT" sz="1400" dirty="0" err="1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Tokenizzazione</a:t>
            </a:r>
            <a:r>
              <a:rPr lang="it-IT" sz="1400" dirty="0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del testo in parole</a:t>
            </a:r>
            <a:br>
              <a:rPr lang="it-IT" sz="1400" dirty="0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it-IT" sz="1400" dirty="0">
                <a:solidFill>
                  <a:srgbClr val="00B0F0"/>
                </a:solidFill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  <a:sym typeface="Wingdings 2" panose="05020102010507070707" pitchFamily="18" charset="2"/>
              </a:rPr>
              <a:t></a:t>
            </a:r>
            <a:r>
              <a:rPr lang="it-IT" sz="1400" dirty="0">
                <a:solidFill>
                  <a:schemeClr val="accent4">
                    <a:lumMod val="75000"/>
                  </a:schemeClr>
                </a:solidFill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  <a:sym typeface="Wingdings 2" panose="05020102010507070707" pitchFamily="18" charset="2"/>
              </a:rPr>
              <a:t> </a:t>
            </a:r>
            <a:r>
              <a:rPr lang="it-IT" sz="1400" dirty="0"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Conversione delle parole in minuscolo</a:t>
            </a:r>
            <a:br>
              <a:rPr lang="it-IT" sz="1400" dirty="0"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it-IT" sz="1400" dirty="0">
                <a:solidFill>
                  <a:srgbClr val="00B0F0"/>
                </a:solidFill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  <a:sym typeface="Wingdings 2" panose="05020102010507070707" pitchFamily="18" charset="2"/>
              </a:rPr>
              <a:t></a:t>
            </a:r>
            <a:r>
              <a:rPr lang="it-IT" sz="1400" dirty="0">
                <a:solidFill>
                  <a:schemeClr val="accent4">
                    <a:lumMod val="75000"/>
                  </a:schemeClr>
                </a:solidFill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  <a:sym typeface="Wingdings 2" panose="05020102010507070707" pitchFamily="18" charset="2"/>
              </a:rPr>
              <a:t> </a:t>
            </a:r>
            <a:r>
              <a:rPr lang="it-IT" sz="1400" dirty="0"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Rimozione della punteggiatura e dei caratteri alfanumerici</a:t>
            </a:r>
            <a:br>
              <a:rPr lang="it-IT" sz="1400" dirty="0"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it-IT" sz="1400" dirty="0">
                <a:solidFill>
                  <a:srgbClr val="00B0F0"/>
                </a:solidFill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  <a:sym typeface="Wingdings 2" panose="05020102010507070707" pitchFamily="18" charset="2"/>
              </a:rPr>
              <a:t></a:t>
            </a:r>
            <a:r>
              <a:rPr lang="it-IT" sz="1400" dirty="0">
                <a:solidFill>
                  <a:schemeClr val="accent4">
                    <a:lumMod val="75000"/>
                  </a:schemeClr>
                </a:solidFill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  <a:sym typeface="Wingdings 2" panose="05020102010507070707" pitchFamily="18" charset="2"/>
              </a:rPr>
              <a:t> </a:t>
            </a:r>
            <a:r>
              <a:rPr lang="it-IT" sz="1400" dirty="0"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Lemmatizzazione di ogni parola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BAEB4409-038D-BA70-F7CB-BD40326E1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7835" y="2174056"/>
            <a:ext cx="6220892" cy="279898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EAB25DAC-894B-7431-BC96-7E2014890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6144" y="5293092"/>
            <a:ext cx="4515480" cy="40963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116E3DED-A08D-AB39-E0F7-1EDB3F7B1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566" y="2174056"/>
            <a:ext cx="2048161" cy="1076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90264464"/>
      </p:ext>
    </p:extLst>
  </p:cSld>
  <p:clrMapOvr>
    <a:masterClrMapping/>
  </p:clrMapOvr>
  <p:transition spd="slow">
    <p:comb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3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0"/>
                            </p:stCondLst>
                            <p:childTnLst>
                              <p:par>
                                <p:cTn id="2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C1E2C2BA-6AED-2E0B-EB16-FE83A11426F5}"/>
              </a:ext>
            </a:extLst>
          </p:cNvPr>
          <p:cNvSpPr/>
          <p:nvPr/>
        </p:nvSpPr>
        <p:spPr>
          <a:xfrm>
            <a:off x="3672901" y="1155276"/>
            <a:ext cx="4846198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r>
              <a:rPr lang="it-IT" sz="4000" b="1" spc="-150" dirty="0">
                <a:ln w="11430"/>
                <a:solidFill>
                  <a:srgbClr val="C0000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Estrazione Keywords</a:t>
            </a:r>
            <a:endParaRPr lang="it-IT" sz="4000" b="1" cap="none" spc="-150" dirty="0">
              <a:ln w="11430"/>
              <a:solidFill>
                <a:srgbClr val="C00000"/>
              </a:soli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5AF61D4-0644-30DC-ADDF-7D81BF7BEBC2}"/>
              </a:ext>
            </a:extLst>
          </p:cNvPr>
          <p:cNvSpPr txBox="1"/>
          <p:nvPr/>
        </p:nvSpPr>
        <p:spPr>
          <a:xfrm>
            <a:off x="1355739" y="2542329"/>
            <a:ext cx="5070621" cy="17625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Wingdings 2" panose="05020102010507070707" pitchFamily="18" charset="2"/>
              <a:buChar char=""/>
            </a:pPr>
            <a:r>
              <a:rPr lang="it-IT" sz="1400" dirty="0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Approccio TF – IDF</a:t>
            </a:r>
            <a:endParaRPr lang="it-IT" sz="1400" dirty="0">
              <a:solidFill>
                <a:schemeClr val="accent4">
                  <a:lumMod val="75000"/>
                </a:schemeClr>
              </a:solidFill>
              <a:latin typeface="Bahnschrift" panose="020B0502040204020203" pitchFamily="34" charset="0"/>
              <a:ea typeface="Calibri" panose="020F0502020204030204" pitchFamily="34" charset="0"/>
              <a:cs typeface="Times New Roman" panose="02020603050405020304" pitchFamily="18" charset="0"/>
              <a:sym typeface="Wingdings 2" panose="05020102010507070707" pitchFamily="18" charset="2"/>
            </a:endParaRP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Wingdings 2" panose="05020102010507070707" pitchFamily="18" charset="2"/>
              <a:buChar char=""/>
            </a:pPr>
            <a:r>
              <a:rPr lang="it-IT" sz="1400" dirty="0"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Analisi ben bilanciata tra quantità e qualità della parola</a:t>
            </a: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Wingdings 2" panose="05020102010507070707" pitchFamily="18" charset="2"/>
              <a:buChar char=""/>
            </a:pPr>
            <a:r>
              <a:rPr lang="it-IT" sz="1400" dirty="0"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Approccio che tiene una visione generale guardando non solo al singolo documento ma anche alla frequenza della parola in documenti diversi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it-IT" sz="1400" dirty="0">
              <a:latin typeface="Bahnschrift" panose="020B0502040204020203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8" name="Immagine 17">
            <a:extLst>
              <a:ext uri="{FF2B5EF4-FFF2-40B4-BE49-F238E27FC236}">
                <a16:creationId xmlns:a16="http://schemas.microsoft.com/office/drawing/2014/main" id="{0BD1599A-6ADB-2DC1-DC0B-E708D7FA4F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277" y="3429000"/>
            <a:ext cx="2865644" cy="1751726"/>
          </a:xfrm>
          <a:prstGeom prst="rect">
            <a:avLst/>
          </a:prstGeom>
        </p:spPr>
      </p:pic>
      <p:pic>
        <p:nvPicPr>
          <p:cNvPr id="20" name="Immagine 19">
            <a:extLst>
              <a:ext uri="{FF2B5EF4-FFF2-40B4-BE49-F238E27FC236}">
                <a16:creationId xmlns:a16="http://schemas.microsoft.com/office/drawing/2014/main" id="{051EED80-7990-4DF1-CA07-E405F026B2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5445" y="2004796"/>
            <a:ext cx="3667308" cy="12101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2124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6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58D34DBB-6E19-084A-D886-730B02AACDE5}"/>
              </a:ext>
            </a:extLst>
          </p:cNvPr>
          <p:cNvSpPr/>
          <p:nvPr/>
        </p:nvSpPr>
        <p:spPr>
          <a:xfrm>
            <a:off x="3089407" y="1128640"/>
            <a:ext cx="6013186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r>
              <a:rPr lang="it-IT" sz="4000" b="1" spc="-150" dirty="0">
                <a:ln w="11430"/>
                <a:solidFill>
                  <a:srgbClr val="C0000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Visualizzazione Keywords</a:t>
            </a:r>
            <a:endParaRPr lang="it-IT" sz="4000" b="1" cap="none" spc="-150" dirty="0">
              <a:ln w="11430"/>
              <a:solidFill>
                <a:srgbClr val="C00000"/>
              </a:soli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3C6B41F0-532D-1473-64AA-41BE6CDAC961}"/>
              </a:ext>
            </a:extLst>
          </p:cNvPr>
          <p:cNvSpPr txBox="1"/>
          <p:nvPr/>
        </p:nvSpPr>
        <p:spPr>
          <a:xfrm>
            <a:off x="325936" y="1965394"/>
            <a:ext cx="3763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Keywords raggruppate per articolo</a:t>
            </a:r>
            <a:endParaRPr lang="it-IT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4514EE50-91B2-0752-1786-B0EE8EFC6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257" y="2334726"/>
            <a:ext cx="1487755" cy="1535747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7E14582-34BE-217D-1D90-9D513047EB0A}"/>
              </a:ext>
            </a:extLst>
          </p:cNvPr>
          <p:cNvSpPr txBox="1"/>
          <p:nvPr/>
        </p:nvSpPr>
        <p:spPr>
          <a:xfrm>
            <a:off x="4776820" y="1965394"/>
            <a:ext cx="35263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Keywords raggruppate per </a:t>
            </a:r>
            <a:r>
              <a:rPr lang="it-IT" sz="1800" dirty="0" err="1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topic</a:t>
            </a:r>
            <a:endParaRPr lang="it-IT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A3C42A1E-D7DB-5AA2-61CA-179D2E3F4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853" y="2288121"/>
            <a:ext cx="1634582" cy="1535747"/>
          </a:xfrm>
          <a:prstGeom prst="rect">
            <a:avLst/>
          </a:prstGeom>
        </p:spPr>
      </p:pic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31B13C18-E078-E578-818B-CCEA1A874F8C}"/>
              </a:ext>
            </a:extLst>
          </p:cNvPr>
          <p:cNvSpPr txBox="1"/>
          <p:nvPr/>
        </p:nvSpPr>
        <p:spPr>
          <a:xfrm>
            <a:off x="2531551" y="3945803"/>
            <a:ext cx="35263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Keywords raggruppate per </a:t>
            </a:r>
            <a:r>
              <a:rPr lang="it-IT" sz="1800" dirty="0" err="1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issue</a:t>
            </a:r>
            <a:endParaRPr lang="it-IT" dirty="0"/>
          </a:p>
        </p:txBody>
      </p:sp>
      <p:pic>
        <p:nvPicPr>
          <p:cNvPr id="22" name="Immagine 21">
            <a:extLst>
              <a:ext uri="{FF2B5EF4-FFF2-40B4-BE49-F238E27FC236}">
                <a16:creationId xmlns:a16="http://schemas.microsoft.com/office/drawing/2014/main" id="{FC08EE41-A6E3-276E-E61C-B5B972C2D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455" y="4268529"/>
            <a:ext cx="1582590" cy="1535747"/>
          </a:xfrm>
          <a:prstGeom prst="rect">
            <a:avLst/>
          </a:prstGeom>
        </p:spPr>
      </p:pic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A380ABAD-474E-164C-8795-552071CD3473}"/>
              </a:ext>
            </a:extLst>
          </p:cNvPr>
          <p:cNvSpPr txBox="1"/>
          <p:nvPr/>
        </p:nvSpPr>
        <p:spPr>
          <a:xfrm>
            <a:off x="7263608" y="3945803"/>
            <a:ext cx="35263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dirty="0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Keywords raggruppate per </a:t>
            </a:r>
            <a:r>
              <a:rPr lang="it-IT" sz="1800" dirty="0" err="1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year</a:t>
            </a:r>
            <a:endParaRPr lang="it-IT" dirty="0"/>
          </a:p>
        </p:txBody>
      </p:sp>
      <p:pic>
        <p:nvPicPr>
          <p:cNvPr id="27" name="Immagine 26">
            <a:extLst>
              <a:ext uri="{FF2B5EF4-FFF2-40B4-BE49-F238E27FC236}">
                <a16:creationId xmlns:a16="http://schemas.microsoft.com/office/drawing/2014/main" id="{610A65ED-2B61-AD8F-C86C-B0B6853C07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516" y="4341842"/>
            <a:ext cx="1634582" cy="1535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617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400">
        <p14:honeycomb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0"/>
                            </p:stCondLst>
                            <p:childTnLst>
                              <p:par>
                                <p:cTn id="2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0"/>
                            </p:stCondLst>
                            <p:childTnLst>
                              <p:par>
                                <p:cTn id="27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9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0"/>
                            </p:stCondLst>
                            <p:childTnLst>
                              <p:par>
                                <p:cTn id="3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500"/>
                            </p:stCondLst>
                            <p:childTnLst>
                              <p:par>
                                <p:cTn id="37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5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4" grpId="0"/>
      <p:bldP spid="15" grpId="0"/>
      <p:bldP spid="20" grpId="0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532DFD2-93C0-6908-666D-2CFE236A5E9E}"/>
              </a:ext>
            </a:extLst>
          </p:cNvPr>
          <p:cNvSpPr/>
          <p:nvPr/>
        </p:nvSpPr>
        <p:spPr>
          <a:xfrm>
            <a:off x="3370734" y="1153239"/>
            <a:ext cx="5450531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r>
              <a:rPr lang="it-IT" sz="4000" b="1" spc="50" dirty="0">
                <a:ln w="11430"/>
                <a:solidFill>
                  <a:srgbClr val="C0000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Confronto keywords</a:t>
            </a:r>
            <a:endParaRPr lang="it-IT" sz="4000" b="1" cap="none" spc="50" dirty="0">
              <a:ln w="11430"/>
              <a:solidFill>
                <a:srgbClr val="C00000"/>
              </a:soli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F09C284-11CB-8E89-5734-7AB2B170AB9A}"/>
              </a:ext>
            </a:extLst>
          </p:cNvPr>
          <p:cNvSpPr txBox="1"/>
          <p:nvPr/>
        </p:nvSpPr>
        <p:spPr>
          <a:xfrm>
            <a:off x="1501088" y="2729819"/>
            <a:ext cx="5070621" cy="19157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it-IT" sz="1400" dirty="0">
                <a:solidFill>
                  <a:srgbClr val="00B0F0"/>
                </a:solidFill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  <a:sym typeface="Wingdings 2" panose="05020102010507070707" pitchFamily="18" charset="2"/>
              </a:rPr>
              <a:t></a:t>
            </a:r>
            <a:r>
              <a:rPr lang="it-IT" sz="1400" dirty="0">
                <a:solidFill>
                  <a:schemeClr val="accent4">
                    <a:lumMod val="75000"/>
                  </a:schemeClr>
                </a:solidFill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  <a:sym typeface="Wingdings 2" panose="05020102010507070707" pitchFamily="18" charset="2"/>
              </a:rPr>
              <a:t> </a:t>
            </a:r>
            <a:r>
              <a:rPr lang="it-IT" sz="1400" dirty="0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Insiemi di parole chiavi</a:t>
            </a:r>
            <a:r>
              <a:rPr lang="it-IT" sz="1400" dirty="0"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-&gt; Controlla rispettivamente a due     	insiemi: parole in comune e parole uniche tramite 	operazioni su insiemi.</a:t>
            </a:r>
            <a:br>
              <a:rPr lang="it-IT" sz="1400" dirty="0">
                <a:effectLst/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it-IT" sz="1400" dirty="0">
                <a:solidFill>
                  <a:srgbClr val="00B0F0"/>
                </a:solidFill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  <a:sym typeface="Wingdings 2" panose="05020102010507070707" pitchFamily="18" charset="2"/>
              </a:rPr>
              <a:t></a:t>
            </a:r>
            <a:r>
              <a:rPr lang="it-IT" sz="1400" dirty="0">
                <a:solidFill>
                  <a:schemeClr val="accent4">
                    <a:lumMod val="75000"/>
                  </a:schemeClr>
                </a:solidFill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  <a:sym typeface="Wingdings 2" panose="05020102010507070707" pitchFamily="18" charset="2"/>
              </a:rPr>
              <a:t> </a:t>
            </a:r>
            <a:r>
              <a:rPr lang="it-IT" sz="1400" dirty="0"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Similarità del coseno -&gt; Usata per il confronto delle 	similarità delle keywords</a:t>
            </a:r>
            <a:br>
              <a:rPr lang="it-IT" sz="1400" dirty="0"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it-IT" sz="1400" dirty="0">
                <a:solidFill>
                  <a:srgbClr val="00B0F0"/>
                </a:solidFill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  <a:sym typeface="Wingdings 2" panose="05020102010507070707" pitchFamily="18" charset="2"/>
              </a:rPr>
              <a:t></a:t>
            </a:r>
            <a:r>
              <a:rPr lang="it-IT" sz="1400" dirty="0">
                <a:solidFill>
                  <a:schemeClr val="accent4">
                    <a:lumMod val="75000"/>
                  </a:schemeClr>
                </a:solidFill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  <a:sym typeface="Wingdings 2" panose="05020102010507070707" pitchFamily="18" charset="2"/>
              </a:rPr>
              <a:t> </a:t>
            </a:r>
            <a:r>
              <a:rPr lang="it-IT" sz="1400" dirty="0"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Visualizzazione grafico a barre -&gt; Confronta risultati 	ottenuti dai dati nella colonna ‘text’ e quelli nella 	colonna ‘</a:t>
            </a:r>
            <a:r>
              <a:rPr lang="it-IT" sz="1400" dirty="0" err="1"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article</a:t>
            </a:r>
            <a:r>
              <a:rPr lang="it-IT" sz="1400" dirty="0">
                <a:latin typeface="Bahnschrift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’ </a:t>
            </a:r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99AC853C-4F11-D08E-3CF7-59ABA0770F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218" y="1919914"/>
            <a:ext cx="3063997" cy="15394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2AE52EDD-4ABC-DA29-0FA9-75F39921A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3162" y="3610072"/>
            <a:ext cx="1486107" cy="5239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8D101E9E-CB5A-82F8-5FAD-B9C3873C70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9595" y="4284778"/>
            <a:ext cx="2673239" cy="1505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92887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0"/>
                            </p:stCondLst>
                            <p:childTnLst>
                              <p:par>
                                <p:cTn id="24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Immagine 46">
            <a:extLst>
              <a:ext uri="{FF2B5EF4-FFF2-40B4-BE49-F238E27FC236}">
                <a16:creationId xmlns:a16="http://schemas.microsoft.com/office/drawing/2014/main" id="{74E1089D-CFEF-7B7A-292C-4DB54AEFC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6502" y="2123985"/>
            <a:ext cx="3938534" cy="3524957"/>
          </a:xfrm>
          <a:prstGeom prst="rect">
            <a:avLst/>
          </a:prstGeom>
        </p:spPr>
      </p:pic>
      <p:sp>
        <p:nvSpPr>
          <p:cNvPr id="5" name="Rettangolo 4">
            <a:extLst>
              <a:ext uri="{FF2B5EF4-FFF2-40B4-BE49-F238E27FC236}">
                <a16:creationId xmlns:a16="http://schemas.microsoft.com/office/drawing/2014/main" id="{53AEE145-D132-0E81-6CB1-D02A13127EF7}"/>
              </a:ext>
            </a:extLst>
          </p:cNvPr>
          <p:cNvSpPr/>
          <p:nvPr/>
        </p:nvSpPr>
        <p:spPr>
          <a:xfrm>
            <a:off x="3992699" y="1192294"/>
            <a:ext cx="4206601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r>
              <a:rPr lang="it-IT" sz="4000" b="1" spc="50" dirty="0">
                <a:ln w="11430"/>
                <a:solidFill>
                  <a:srgbClr val="C0000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Analisi lessicale</a:t>
            </a:r>
            <a:endParaRPr lang="it-IT" sz="4000" b="1" cap="none" spc="50" dirty="0">
              <a:ln w="11430"/>
              <a:solidFill>
                <a:srgbClr val="C00000"/>
              </a:soli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45B5A6C2-3A5C-1B54-85CC-3002F3B286D4}"/>
              </a:ext>
            </a:extLst>
          </p:cNvPr>
          <p:cNvSpPr/>
          <p:nvPr/>
        </p:nvSpPr>
        <p:spPr>
          <a:xfrm>
            <a:off x="9237426" y="2013922"/>
            <a:ext cx="187636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r>
              <a:rPr lang="it-IT" sz="2400" b="1" i="1" spc="50" dirty="0">
                <a:ln w="11430"/>
                <a:solidFill>
                  <a:srgbClr val="0070C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Risultato</a:t>
            </a:r>
            <a:endParaRPr lang="it-IT" sz="2400" b="1" i="1" cap="none" spc="50" dirty="0">
              <a:ln w="11430"/>
              <a:solidFill>
                <a:srgbClr val="0070C0"/>
              </a:soli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  <p:pic>
        <p:nvPicPr>
          <p:cNvPr id="37" name="Immagine 36">
            <a:extLst>
              <a:ext uri="{FF2B5EF4-FFF2-40B4-BE49-F238E27FC236}">
                <a16:creationId xmlns:a16="http://schemas.microsoft.com/office/drawing/2014/main" id="{91C8E291-171A-12C4-4657-AED9D879FD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774" y="2132367"/>
            <a:ext cx="4544226" cy="3533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84074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3" dur="2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6E29F438-9F64-BF07-CBCE-B8D57EA3FC82}"/>
              </a:ext>
            </a:extLst>
          </p:cNvPr>
          <p:cNvSpPr/>
          <p:nvPr/>
        </p:nvSpPr>
        <p:spPr>
          <a:xfrm>
            <a:off x="3434854" y="1052326"/>
            <a:ext cx="5322291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r>
              <a:rPr lang="it-IT" sz="4000" b="1" spc="50" dirty="0">
                <a:ln w="11430"/>
                <a:solidFill>
                  <a:srgbClr val="C0000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Analisi Sentimentale</a:t>
            </a:r>
            <a:endParaRPr lang="it-IT" sz="4000" b="1" cap="none" spc="50" dirty="0">
              <a:ln w="11430"/>
              <a:solidFill>
                <a:srgbClr val="C00000"/>
              </a:soli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287CEEEA-FA81-ED78-C3DF-516F2F237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775" y="4544028"/>
            <a:ext cx="1577672" cy="1378053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6D6FF6B2-C332-9393-A2D8-4CE3C947B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6814" y="4544029"/>
            <a:ext cx="1511823" cy="1378053"/>
          </a:xfrm>
          <a:prstGeom prst="rect">
            <a:avLst/>
          </a:prstGeom>
        </p:spPr>
      </p:pic>
      <p:pic>
        <p:nvPicPr>
          <p:cNvPr id="18" name="Immagine 17">
            <a:extLst>
              <a:ext uri="{FF2B5EF4-FFF2-40B4-BE49-F238E27FC236}">
                <a16:creationId xmlns:a16="http://schemas.microsoft.com/office/drawing/2014/main" id="{45032C54-E803-DF26-978D-3DC6B9FE86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1304" y="2458093"/>
            <a:ext cx="2734735" cy="1471705"/>
          </a:xfrm>
          <a:prstGeom prst="rect">
            <a:avLst/>
          </a:prstGeom>
        </p:spPr>
      </p:pic>
      <p:pic>
        <p:nvPicPr>
          <p:cNvPr id="20" name="Immagine 19">
            <a:extLst>
              <a:ext uri="{FF2B5EF4-FFF2-40B4-BE49-F238E27FC236}">
                <a16:creationId xmlns:a16="http://schemas.microsoft.com/office/drawing/2014/main" id="{B109F2D3-AE7C-5F1A-BA20-7F61406475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4901" y="2482703"/>
            <a:ext cx="1557337" cy="1422484"/>
          </a:xfrm>
          <a:prstGeom prst="rect">
            <a:avLst/>
          </a:prstGeom>
        </p:spPr>
      </p:pic>
      <p:sp>
        <p:nvSpPr>
          <p:cNvPr id="21" name="Rettangolo 20">
            <a:extLst>
              <a:ext uri="{FF2B5EF4-FFF2-40B4-BE49-F238E27FC236}">
                <a16:creationId xmlns:a16="http://schemas.microsoft.com/office/drawing/2014/main" id="{E1FF7CAA-CA01-E30D-449F-4A39C33C42A5}"/>
              </a:ext>
            </a:extLst>
          </p:cNvPr>
          <p:cNvSpPr/>
          <p:nvPr/>
        </p:nvSpPr>
        <p:spPr>
          <a:xfrm>
            <a:off x="1292775" y="4052171"/>
            <a:ext cx="131910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r>
              <a:rPr lang="it-IT" sz="2400" b="1" i="1" spc="50" dirty="0">
                <a:ln w="11430"/>
                <a:solidFill>
                  <a:srgbClr val="0070C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Articolo</a:t>
            </a:r>
            <a:endParaRPr lang="it-IT" sz="2400" b="1" i="1" cap="none" spc="50" dirty="0">
              <a:ln w="11430"/>
              <a:solidFill>
                <a:srgbClr val="0070C0"/>
              </a:soli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DC75BDAC-ED31-FAAD-1723-7CDA3DBDFBC7}"/>
              </a:ext>
            </a:extLst>
          </p:cNvPr>
          <p:cNvSpPr/>
          <p:nvPr/>
        </p:nvSpPr>
        <p:spPr>
          <a:xfrm>
            <a:off x="3530768" y="4052170"/>
            <a:ext cx="96398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r>
              <a:rPr lang="it-IT" sz="2400" b="1" i="1" spc="50" dirty="0">
                <a:ln w="11430"/>
                <a:solidFill>
                  <a:srgbClr val="0070C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Topic</a:t>
            </a:r>
            <a:endParaRPr lang="it-IT" sz="2400" b="1" i="1" cap="none" spc="50" dirty="0">
              <a:ln w="11430"/>
              <a:solidFill>
                <a:srgbClr val="0070C0"/>
              </a:soli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F73D3215-49F6-8002-F5B3-C5F5C6A316CB}"/>
              </a:ext>
            </a:extLst>
          </p:cNvPr>
          <p:cNvSpPr/>
          <p:nvPr/>
        </p:nvSpPr>
        <p:spPr>
          <a:xfrm>
            <a:off x="7064143" y="1996458"/>
            <a:ext cx="978048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r>
              <a:rPr lang="it-IT" sz="2400" b="1" i="1" spc="50" dirty="0" err="1">
                <a:ln w="11430"/>
                <a:solidFill>
                  <a:srgbClr val="0070C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Issue</a:t>
            </a:r>
            <a:endParaRPr lang="it-IT" sz="2400" b="1" i="1" cap="none" spc="50" dirty="0">
              <a:ln w="11430"/>
              <a:solidFill>
                <a:srgbClr val="0070C0"/>
              </a:soli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B0545E17-1B1B-48C7-A79B-13046CC93D9E}"/>
              </a:ext>
            </a:extLst>
          </p:cNvPr>
          <p:cNvSpPr/>
          <p:nvPr/>
        </p:nvSpPr>
        <p:spPr>
          <a:xfrm>
            <a:off x="7103364" y="3953840"/>
            <a:ext cx="899605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r>
              <a:rPr lang="it-IT" sz="2400" b="1" i="1" spc="50" dirty="0" err="1">
                <a:ln w="11430"/>
                <a:solidFill>
                  <a:srgbClr val="0070C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Year</a:t>
            </a:r>
            <a:endParaRPr lang="it-IT" sz="2400" b="1" i="1" cap="none" spc="50" dirty="0">
              <a:ln w="11430"/>
              <a:solidFill>
                <a:srgbClr val="0070C0"/>
              </a:soli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  <p:pic>
        <p:nvPicPr>
          <p:cNvPr id="27" name="Immagine 26">
            <a:extLst>
              <a:ext uri="{FF2B5EF4-FFF2-40B4-BE49-F238E27FC236}">
                <a16:creationId xmlns:a16="http://schemas.microsoft.com/office/drawing/2014/main" id="{3D6C612C-5993-9252-578F-0956D33EC1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6579" y="4420860"/>
            <a:ext cx="2749460" cy="1501222"/>
          </a:xfrm>
          <a:prstGeom prst="rect">
            <a:avLst/>
          </a:prstGeom>
        </p:spPr>
      </p:pic>
      <p:pic>
        <p:nvPicPr>
          <p:cNvPr id="29" name="Immagine 28">
            <a:extLst>
              <a:ext uri="{FF2B5EF4-FFF2-40B4-BE49-F238E27FC236}">
                <a16:creationId xmlns:a16="http://schemas.microsoft.com/office/drawing/2014/main" id="{CC2B675A-EF49-00B8-3B02-B7E3B0D6E7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55876" y="4460229"/>
            <a:ext cx="1526362" cy="1422484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7F567F0A-4CBB-7BDA-0650-176BD416C1C1}"/>
              </a:ext>
            </a:extLst>
          </p:cNvPr>
          <p:cNvSpPr txBox="1"/>
          <p:nvPr/>
        </p:nvSpPr>
        <p:spPr>
          <a:xfrm>
            <a:off x="1292775" y="2199514"/>
            <a:ext cx="51156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Analisi sentimentale svolta sui dataset raggruppati.</a:t>
            </a:r>
            <a:br>
              <a:rPr lang="it-IT" dirty="0"/>
            </a:br>
            <a:r>
              <a:rPr lang="it-IT" dirty="0"/>
              <a:t>Per </a:t>
            </a:r>
            <a:r>
              <a:rPr lang="it-IT" dirty="0" err="1"/>
              <a:t>issue</a:t>
            </a:r>
            <a:r>
              <a:rPr lang="it-IT" dirty="0"/>
              <a:t> e </a:t>
            </a:r>
            <a:r>
              <a:rPr lang="it-IT" dirty="0" err="1"/>
              <a:t>year</a:t>
            </a:r>
            <a:r>
              <a:rPr lang="it-IT" dirty="0"/>
              <a:t> sono anche riportati i line plot riguardanti uno dei documenti prodotti dal raggruppamento, che sono stati utilizzati per svolgere un’analisi più approfondita in quanto l’</a:t>
            </a:r>
            <a:r>
              <a:rPr lang="it-IT" dirty="0" err="1"/>
              <a:t>hexbin</a:t>
            </a:r>
            <a:r>
              <a:rPr lang="it-IT" dirty="0"/>
              <a:t> non produce output particolarmente significativi</a:t>
            </a:r>
          </a:p>
        </p:txBody>
      </p:sp>
    </p:spTree>
    <p:extLst>
      <p:ext uri="{BB962C8B-B14F-4D97-AF65-F5344CB8AC3E}">
        <p14:creationId xmlns:p14="http://schemas.microsoft.com/office/powerpoint/2010/main" val="39925860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6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3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1" grpId="0"/>
      <p:bldP spid="22" grpId="0"/>
      <p:bldP spid="24" grpId="0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BDE98FD-6AE5-A40D-55CB-8873E97D28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Per eventuali approfondimenti e descrizioni più tecniche e accurate dell’analisi svolta rifarsi al notebook allegato.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D08526E5-D492-87D3-A45A-FB460C842793}"/>
              </a:ext>
            </a:extLst>
          </p:cNvPr>
          <p:cNvSpPr/>
          <p:nvPr/>
        </p:nvSpPr>
        <p:spPr>
          <a:xfrm>
            <a:off x="5106788" y="1052326"/>
            <a:ext cx="1978427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l">
                <a:rot lat="0" lon="0" rev="0"/>
              </a:lightRig>
            </a:scene3d>
            <a:sp3d contourW="25400" prstMaterial="matte">
              <a:bevelT w="25400" h="55880" prst="artDeco"/>
              <a:contourClr>
                <a:schemeClr val="accent2">
                  <a:tint val="20000"/>
                </a:schemeClr>
              </a:contourClr>
            </a:sp3d>
          </a:bodyPr>
          <a:lstStyle/>
          <a:p>
            <a:pPr algn="ctr"/>
            <a:r>
              <a:rPr lang="it-IT" sz="4000" b="1" spc="50" dirty="0">
                <a:ln w="11430"/>
                <a:solidFill>
                  <a:srgbClr val="C00000"/>
                </a:solidFill>
                <a:effectLst>
                  <a:outerShdw blurRad="76200" dist="50800" dir="5400000" algn="tl" rotWithShape="0">
                    <a:srgbClr val="000000">
                      <a:alpha val="65000"/>
                    </a:srgbClr>
                  </a:outerShdw>
                </a:effectLst>
              </a:rPr>
              <a:t>Grazie!</a:t>
            </a:r>
            <a:endParaRPr lang="it-IT" sz="4000" b="1" cap="none" spc="50" dirty="0">
              <a:ln w="11430"/>
              <a:solidFill>
                <a:srgbClr val="C00000"/>
              </a:solidFill>
              <a:effectLst>
                <a:outerShdw blurRad="76200" dist="50800" dir="5400000" algn="tl" rotWithShape="0">
                  <a:srgbClr val="000000">
                    <a:alpha val="65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60832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theme/theme1.xml><?xml version="1.0" encoding="utf-8"?>
<a:theme xmlns:a="http://schemas.openxmlformats.org/drawingml/2006/main" name="Raccolta">
  <a:themeElements>
    <a:clrScheme name="Raccolt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Raccolta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accolt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TM10001114[[fn=Raccolta]]</Template>
  <TotalTime>1665</TotalTime>
  <Words>312</Words>
  <Application>Microsoft Office PowerPoint</Application>
  <PresentationFormat>Widescreen</PresentationFormat>
  <Paragraphs>46</Paragraphs>
  <Slides>11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9" baseType="lpstr">
      <vt:lpstr>Arial</vt:lpstr>
      <vt:lpstr>Bahnschrift</vt:lpstr>
      <vt:lpstr>Bahnschrift SemiBold</vt:lpstr>
      <vt:lpstr>Calibri</vt:lpstr>
      <vt:lpstr>Candara</vt:lpstr>
      <vt:lpstr>Gill Sans MT</vt:lpstr>
      <vt:lpstr>Wingdings 2</vt:lpstr>
      <vt:lpstr>Raccolta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Gianluca Rota</dc:creator>
  <cp:lastModifiedBy>Andrea Magliani</cp:lastModifiedBy>
  <cp:revision>38</cp:revision>
  <dcterms:created xsi:type="dcterms:W3CDTF">2022-05-13T13:50:56Z</dcterms:created>
  <dcterms:modified xsi:type="dcterms:W3CDTF">2025-02-14T19:59:58Z</dcterms:modified>
</cp:coreProperties>
</file>